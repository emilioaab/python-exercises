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  <p:sldId id="257" r:id="rId3"/>
    <p:sldId id="258" r:id="rId4"/>
    <p:sldId id="264" r:id="rId5"/>
    <p:sldId id="259" r:id="rId6"/>
    <p:sldId id="263" r:id="rId7"/>
    <p:sldId id="262" r:id="rId8"/>
    <p:sldId id="261" r:id="rId9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122" d="100"/>
          <a:sy n="122" d="100"/>
        </p:scale>
        <p:origin x="11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6B6AF-715E-4381-B552-98D035585490}" type="datetimeFigureOut">
              <a:rPr lang="he-IL" smtClean="0"/>
              <a:t>כ"ז/חשון/תשע"ח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5E8-41BA-4DA4-886A-FF6A9C5A75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61883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6B6AF-715E-4381-B552-98D035585490}" type="datetimeFigureOut">
              <a:rPr lang="he-IL" smtClean="0"/>
              <a:t>כ"ז/חשון/תשע"ח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5E8-41BA-4DA4-886A-FF6A9C5A75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9564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6B6AF-715E-4381-B552-98D035585490}" type="datetimeFigureOut">
              <a:rPr lang="he-IL" smtClean="0"/>
              <a:t>כ"ז/חשון/תשע"ח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5E8-41BA-4DA4-886A-FF6A9C5A75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81413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6B6AF-715E-4381-B552-98D035585490}" type="datetimeFigureOut">
              <a:rPr lang="he-IL" smtClean="0"/>
              <a:t>כ"ז/חשון/תשע"ח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5E8-41BA-4DA4-886A-FF6A9C5A75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73610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6B6AF-715E-4381-B552-98D035585490}" type="datetimeFigureOut">
              <a:rPr lang="he-IL" smtClean="0"/>
              <a:t>כ"ז/חשון/תשע"ח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5E8-41BA-4DA4-886A-FF6A9C5A75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5300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6B6AF-715E-4381-B552-98D035585490}" type="datetimeFigureOut">
              <a:rPr lang="he-IL" smtClean="0"/>
              <a:t>כ"ז/חשון/תשע"ח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5E8-41BA-4DA4-886A-FF6A9C5A75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5487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6B6AF-715E-4381-B552-98D035585490}" type="datetimeFigureOut">
              <a:rPr lang="he-IL" smtClean="0"/>
              <a:t>כ"ז/חשון/תשע"ח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5E8-41BA-4DA4-886A-FF6A9C5A75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101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6B6AF-715E-4381-B552-98D035585490}" type="datetimeFigureOut">
              <a:rPr lang="he-IL" smtClean="0"/>
              <a:t>כ"ז/חשון/תשע"ח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5E8-41BA-4DA4-886A-FF6A9C5A75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92028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6B6AF-715E-4381-B552-98D035585490}" type="datetimeFigureOut">
              <a:rPr lang="he-IL" smtClean="0"/>
              <a:t>כ"ז/חשון/תשע"ח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5E8-41BA-4DA4-886A-FF6A9C5A75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79799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6B6AF-715E-4381-B552-98D035585490}" type="datetimeFigureOut">
              <a:rPr lang="he-IL" smtClean="0"/>
              <a:t>כ"ז/חשון/תשע"ח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5E8-41BA-4DA4-886A-FF6A9C5A75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580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6B6AF-715E-4381-B552-98D035585490}" type="datetimeFigureOut">
              <a:rPr lang="he-IL" smtClean="0"/>
              <a:t>כ"ז/חשון/תשע"ח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5E8-41BA-4DA4-886A-FF6A9C5A75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2757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6B6AF-715E-4381-B552-98D035585490}" type="datetimeFigureOut">
              <a:rPr lang="he-IL" smtClean="0"/>
              <a:t>כ"ז/חשון/תשע"ח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5E8-41BA-4DA4-886A-FF6A9C5A753F}" type="slidenum">
              <a:rPr lang="he-IL" smtClean="0"/>
              <a:t>‹#›</a:t>
            </a:fld>
            <a:endParaRPr lang="he-IL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080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6B6AF-715E-4381-B552-98D035585490}" type="datetimeFigureOut">
              <a:rPr lang="he-IL" smtClean="0"/>
              <a:t>כ"ז/חשון/תשע"ח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5E8-41BA-4DA4-886A-FF6A9C5A75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9695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6B6AF-715E-4381-B552-98D035585490}" type="datetimeFigureOut">
              <a:rPr lang="he-IL" smtClean="0"/>
              <a:t>כ"ז/חשון/תשע"ח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5E8-41BA-4DA4-886A-FF6A9C5A75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05701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6B6AF-715E-4381-B552-98D035585490}" type="datetimeFigureOut">
              <a:rPr lang="he-IL" smtClean="0"/>
              <a:t>כ"ז/חשון/תשע"ח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5E8-41BA-4DA4-886A-FF6A9C5A75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7462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6B6AF-715E-4381-B552-98D035585490}" type="datetimeFigureOut">
              <a:rPr lang="he-IL" smtClean="0"/>
              <a:t>כ"ז/חשון/תשע"ח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5E8-41BA-4DA4-886A-FF6A9C5A75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79963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6B6AF-715E-4381-B552-98D035585490}" type="datetimeFigureOut">
              <a:rPr lang="he-IL" smtClean="0"/>
              <a:t>כ"ז/חשון/תשע"ח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5E8-41BA-4DA4-886A-FF6A9C5A75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05130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1A6B6AF-715E-4381-B552-98D035585490}" type="datetimeFigureOut">
              <a:rPr lang="he-IL" smtClean="0"/>
              <a:t>כ"ז/חשון/תשע"ח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9FF05E8-41BA-4DA4-886A-FF6A9C5A75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201450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457200" rtl="1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06000" algn="r" defTabSz="457200" rtl="1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r" defTabSz="457200" rtl="1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r" defTabSz="457200" rtl="1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r" defTabSz="457200" rtl="1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r" defTabSz="457200" rtl="1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PPL: Lab 5</a:t>
            </a:r>
            <a:endParaRPr lang="he-IL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rtl="0"/>
            <a:r>
              <a:rPr lang="en-US" sz="2400" dirty="0" smtClean="0"/>
              <a:t>Lambda , High order functions</a:t>
            </a:r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3941324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Lambda?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 rtl="0"/>
            <a:r>
              <a:rPr lang="en-US" sz="2400" dirty="0"/>
              <a:t>Python supports the creation of anonymous functions </a:t>
            </a:r>
            <a:r>
              <a:rPr lang="en-US" sz="2400" dirty="0" smtClean="0"/>
              <a:t>- </a:t>
            </a:r>
            <a:r>
              <a:rPr lang="en-US" sz="2400" dirty="0"/>
              <a:t>that are not bound to a </a:t>
            </a:r>
            <a:r>
              <a:rPr lang="en-US" sz="2400" dirty="0" smtClean="0"/>
              <a:t>name</a:t>
            </a:r>
          </a:p>
          <a:p>
            <a:pPr algn="l" rtl="0"/>
            <a:r>
              <a:rPr lang="en-US" sz="2400" dirty="0" smtClean="0"/>
              <a:t>Take a look at this comparison:</a:t>
            </a:r>
          </a:p>
          <a:p>
            <a:pPr marL="36900" indent="0" algn="l" rtl="0">
              <a:buNone/>
            </a:pPr>
            <a:r>
              <a:rPr lang="en-US" sz="2400" dirty="0"/>
              <a:t>	&gt;&gt;&gt; </a:t>
            </a:r>
            <a:r>
              <a:rPr lang="en-US" sz="2400" dirty="0" err="1"/>
              <a:t>def</a:t>
            </a:r>
            <a:r>
              <a:rPr lang="en-US" sz="2400" dirty="0"/>
              <a:t> </a:t>
            </a:r>
            <a:r>
              <a:rPr lang="en-US" sz="2400" dirty="0" smtClean="0"/>
              <a:t>F </a:t>
            </a:r>
            <a:r>
              <a:rPr lang="en-US" sz="2400" dirty="0"/>
              <a:t>(x): return x**</a:t>
            </a:r>
            <a:r>
              <a:rPr lang="en-US" sz="2400" dirty="0" smtClean="0"/>
              <a:t>2</a:t>
            </a:r>
            <a:endParaRPr lang="en-US" sz="2400" dirty="0"/>
          </a:p>
          <a:p>
            <a:pPr marL="36900" indent="0" algn="l" rtl="0">
              <a:buNone/>
            </a:pPr>
            <a:r>
              <a:rPr lang="en-US" sz="2400" dirty="0" smtClean="0"/>
              <a:t>	&gt;&gt;&gt; </a:t>
            </a:r>
            <a:r>
              <a:rPr lang="en-US" sz="2400" dirty="0"/>
              <a:t>print </a:t>
            </a:r>
            <a:r>
              <a:rPr lang="en-US" sz="2400" dirty="0" smtClean="0"/>
              <a:t>(F(8))</a:t>
            </a:r>
            <a:endParaRPr lang="en-US" sz="2400" dirty="0"/>
          </a:p>
          <a:p>
            <a:pPr marL="36900" indent="0" algn="l" rtl="0">
              <a:buNone/>
            </a:pPr>
            <a:r>
              <a:rPr lang="en-US" sz="2400" dirty="0" smtClean="0"/>
              <a:t>	64</a:t>
            </a:r>
            <a:endParaRPr lang="en-US" sz="2400" dirty="0"/>
          </a:p>
          <a:p>
            <a:pPr marL="36900" indent="0" algn="l" rtl="0">
              <a:buNone/>
            </a:pPr>
            <a:r>
              <a:rPr lang="en-US" sz="2400" dirty="0" smtClean="0"/>
              <a:t>	&gt;&gt;&gt; </a:t>
            </a:r>
            <a:r>
              <a:rPr lang="en-US" sz="2400" dirty="0"/>
              <a:t>g = lambda x: x**2</a:t>
            </a:r>
          </a:p>
          <a:p>
            <a:pPr marL="36900" indent="0" algn="l" rtl="0">
              <a:buNone/>
            </a:pPr>
            <a:r>
              <a:rPr lang="en-US" sz="2400" dirty="0" smtClean="0"/>
              <a:t>	&gt;&gt;&gt; </a:t>
            </a:r>
            <a:r>
              <a:rPr lang="en-US" sz="2400" dirty="0"/>
              <a:t>print </a:t>
            </a:r>
            <a:r>
              <a:rPr lang="en-US" sz="2400" dirty="0" smtClean="0"/>
              <a:t>(g(8))</a:t>
            </a:r>
            <a:endParaRPr lang="en-US" sz="2400" dirty="0"/>
          </a:p>
          <a:p>
            <a:pPr marL="36900" indent="0" algn="l" rtl="0">
              <a:buNone/>
            </a:pPr>
            <a:r>
              <a:rPr lang="en-US" sz="2400" dirty="0" smtClean="0"/>
              <a:t>	64</a:t>
            </a:r>
            <a:endParaRPr lang="en-US" sz="2400" dirty="0"/>
          </a:p>
          <a:p>
            <a:pPr marL="36900" indent="0" algn="l" rtl="0">
              <a:buNone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555868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use Lambda?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 rtl="0"/>
            <a:r>
              <a:rPr lang="en-US" sz="2400" dirty="0" smtClean="0"/>
              <a:t>We use the term “lambda” and specify the arguments it needs like this:</a:t>
            </a:r>
          </a:p>
          <a:p>
            <a:pPr marL="36900" indent="0" algn="l" rtl="0">
              <a:buNone/>
            </a:pPr>
            <a:r>
              <a:rPr lang="en-US" sz="2400" dirty="0"/>
              <a:t>	</a:t>
            </a:r>
            <a:r>
              <a:rPr lang="en-US" sz="2400" dirty="0" smtClean="0"/>
              <a:t>( lambda  </a:t>
            </a:r>
            <a:r>
              <a:rPr lang="en-US" sz="2400" dirty="0" err="1" smtClean="0"/>
              <a:t>x,y,z</a:t>
            </a:r>
            <a:r>
              <a:rPr lang="en-US" sz="2400" dirty="0" smtClean="0"/>
              <a:t>: (</a:t>
            </a:r>
            <a:r>
              <a:rPr lang="en-US" sz="2400" dirty="0" err="1" smtClean="0"/>
              <a:t>x+y</a:t>
            </a:r>
            <a:r>
              <a:rPr lang="en-US" sz="2400" dirty="0" smtClean="0"/>
              <a:t>)/z)  ( 1,2,3)</a:t>
            </a:r>
          </a:p>
          <a:p>
            <a:pPr algn="l" rtl="0"/>
            <a:r>
              <a:rPr lang="en-US" sz="2400" dirty="0" smtClean="0"/>
              <a:t>Common use:</a:t>
            </a:r>
          </a:p>
          <a:p>
            <a:pPr marL="36900" indent="0" algn="l" rtl="0">
              <a:buNone/>
            </a:pPr>
            <a:r>
              <a:rPr lang="en-US" sz="2400" dirty="0"/>
              <a:t>	&gt;&gt;&gt; </a:t>
            </a:r>
            <a:r>
              <a:rPr lang="en-US" sz="2400" dirty="0" err="1"/>
              <a:t>def</a:t>
            </a:r>
            <a:r>
              <a:rPr lang="en-US" sz="2400" dirty="0"/>
              <a:t> </a:t>
            </a:r>
            <a:r>
              <a:rPr lang="en-US" sz="2400" dirty="0" err="1"/>
              <a:t>make_incrementor</a:t>
            </a:r>
            <a:r>
              <a:rPr lang="en-US" sz="2400" dirty="0"/>
              <a:t> (n): return lambda x: x + </a:t>
            </a:r>
            <a:r>
              <a:rPr lang="en-US" sz="2400" dirty="0" smtClean="0"/>
              <a:t>n</a:t>
            </a:r>
            <a:endParaRPr lang="en-US" sz="2400" dirty="0"/>
          </a:p>
          <a:p>
            <a:pPr marL="36900" indent="0" algn="l" rtl="0">
              <a:buNone/>
            </a:pPr>
            <a:r>
              <a:rPr lang="en-US" sz="2400" dirty="0" smtClean="0"/>
              <a:t>	&gt;&gt;&gt; </a:t>
            </a:r>
            <a:r>
              <a:rPr lang="en-US" sz="2400" dirty="0"/>
              <a:t>f = </a:t>
            </a:r>
            <a:r>
              <a:rPr lang="en-US" sz="2400" dirty="0" err="1"/>
              <a:t>make_incrementor</a:t>
            </a:r>
            <a:r>
              <a:rPr lang="en-US" sz="2400" dirty="0"/>
              <a:t>(2)</a:t>
            </a:r>
          </a:p>
          <a:p>
            <a:pPr marL="36900" indent="0" algn="l" rtl="0">
              <a:buNone/>
            </a:pPr>
            <a:r>
              <a:rPr lang="en-US" sz="2400" dirty="0" smtClean="0"/>
              <a:t>	&gt;&gt;&gt; </a:t>
            </a:r>
            <a:r>
              <a:rPr lang="en-US" sz="2400" dirty="0"/>
              <a:t>g = </a:t>
            </a:r>
            <a:r>
              <a:rPr lang="en-US" sz="2400" dirty="0" err="1"/>
              <a:t>make_incrementor</a:t>
            </a:r>
            <a:r>
              <a:rPr lang="en-US" sz="2400" dirty="0"/>
              <a:t>(6</a:t>
            </a:r>
            <a:r>
              <a:rPr lang="en-US" sz="2400" dirty="0" smtClean="0"/>
              <a:t>)</a:t>
            </a:r>
            <a:endParaRPr lang="en-US" sz="2400" dirty="0"/>
          </a:p>
          <a:p>
            <a:pPr marL="36900" indent="0" algn="l" rtl="0">
              <a:buNone/>
            </a:pPr>
            <a:r>
              <a:rPr lang="en-US" sz="2400" dirty="0" smtClean="0"/>
              <a:t>	&gt;&gt;&gt; </a:t>
            </a:r>
            <a:r>
              <a:rPr lang="en-US" sz="2400" dirty="0"/>
              <a:t>print </a:t>
            </a:r>
            <a:r>
              <a:rPr lang="en-US" sz="2400" dirty="0" smtClean="0"/>
              <a:t>(f(42</a:t>
            </a:r>
            <a:r>
              <a:rPr lang="en-US" sz="2400" dirty="0"/>
              <a:t>), g(42</a:t>
            </a:r>
            <a:r>
              <a:rPr lang="en-US" sz="2400" dirty="0" smtClean="0"/>
              <a:t>))</a:t>
            </a:r>
            <a:endParaRPr lang="en-US" sz="2400" dirty="0"/>
          </a:p>
          <a:p>
            <a:pPr marL="36900" indent="0" algn="l" rtl="0">
              <a:buNone/>
            </a:pPr>
            <a:r>
              <a:rPr lang="en-US" sz="2400" dirty="0" smtClean="0"/>
              <a:t>	44 </a:t>
            </a:r>
            <a:r>
              <a:rPr lang="en-US" sz="2400" dirty="0"/>
              <a:t>48</a:t>
            </a:r>
          </a:p>
          <a:p>
            <a:pPr marL="36900" indent="0" algn="l" rtl="0">
              <a:buNone/>
            </a:pPr>
            <a:r>
              <a:rPr lang="en-US" sz="2400" dirty="0" smtClean="0"/>
              <a:t>	&gt;&gt;&gt; print ( </a:t>
            </a:r>
            <a:r>
              <a:rPr lang="en-US" sz="2400" dirty="0" err="1"/>
              <a:t>make_incrementor</a:t>
            </a:r>
            <a:r>
              <a:rPr lang="en-US" sz="2400" dirty="0"/>
              <a:t>(22)(33</a:t>
            </a:r>
            <a:r>
              <a:rPr lang="en-US" sz="2400" dirty="0" smtClean="0"/>
              <a:t>)) </a:t>
            </a:r>
            <a:endParaRPr lang="en-US" sz="2400" dirty="0"/>
          </a:p>
          <a:p>
            <a:pPr marL="36900" indent="0" algn="l" rtl="0">
              <a:buNone/>
            </a:pPr>
            <a:r>
              <a:rPr lang="en-US" sz="2400" dirty="0" smtClean="0"/>
              <a:t>	55</a:t>
            </a:r>
            <a:endParaRPr lang="en-US" dirty="0"/>
          </a:p>
          <a:p>
            <a:pPr marL="36900" indent="0" algn="l" rtl="0">
              <a:buNone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26964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Lists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598682"/>
          </a:xfrm>
        </p:spPr>
        <p:txBody>
          <a:bodyPr>
            <a:normAutofit fontScale="25000" lnSpcReduction="20000"/>
          </a:bodyPr>
          <a:lstStyle/>
          <a:p>
            <a:pPr algn="l" rtl="0"/>
            <a:endParaRPr lang="en-US" sz="2800" b="1" u="sng" dirty="0" smtClean="0">
              <a:solidFill>
                <a:srgbClr val="FFFF00"/>
              </a:solidFill>
            </a:endParaRPr>
          </a:p>
          <a:p>
            <a:pPr algn="l" rtl="0"/>
            <a:r>
              <a:rPr lang="en-US" sz="9600" dirty="0">
                <a:effectLst/>
              </a:rPr>
              <a:t>A list is a sequence of items of any </a:t>
            </a:r>
            <a:r>
              <a:rPr lang="en-US" sz="9600" dirty="0" smtClean="0">
                <a:effectLst/>
              </a:rPr>
              <a:t>type  (like an array).</a:t>
            </a:r>
            <a:endParaRPr lang="en-US" sz="9600" dirty="0">
              <a:effectLst/>
            </a:endParaRPr>
          </a:p>
          <a:p>
            <a:pPr algn="l" rtl="0"/>
            <a:r>
              <a:rPr lang="en-US" sz="9600" dirty="0">
                <a:effectLst/>
              </a:rPr>
              <a:t> </a:t>
            </a:r>
            <a:r>
              <a:rPr lang="en-US" sz="9600" dirty="0" smtClean="0">
                <a:effectLst/>
              </a:rPr>
              <a:t>For </a:t>
            </a:r>
            <a:r>
              <a:rPr lang="en-US" sz="9600" dirty="0">
                <a:effectLst/>
              </a:rPr>
              <a:t>example:</a:t>
            </a:r>
          </a:p>
          <a:p>
            <a:pPr marL="36900" indent="0" algn="l" rtl="0">
              <a:buNone/>
            </a:pPr>
            <a:r>
              <a:rPr lang="en-US" sz="9600" dirty="0" smtClean="0">
                <a:effectLst/>
              </a:rPr>
              <a:t>     </a:t>
            </a:r>
            <a:r>
              <a:rPr lang="en-US" sz="9600" dirty="0" err="1" smtClean="0">
                <a:effectLst/>
              </a:rPr>
              <a:t>myList</a:t>
            </a:r>
            <a:r>
              <a:rPr lang="en-US" sz="9600" dirty="0">
                <a:effectLst/>
              </a:rPr>
              <a:t>=[1,2,4,9]</a:t>
            </a:r>
          </a:p>
          <a:p>
            <a:pPr algn="l" rtl="0"/>
            <a:endParaRPr lang="en-US" sz="2800" dirty="0" smtClean="0">
              <a:effectLst/>
            </a:endParaRPr>
          </a:p>
          <a:p>
            <a:pPr algn="l" rtl="0"/>
            <a:r>
              <a:rPr lang="en-US" sz="9600" dirty="0">
                <a:effectLst/>
              </a:rPr>
              <a:t>The for-in statement makes it easy to loop over the items in a list:</a:t>
            </a:r>
          </a:p>
          <a:p>
            <a:pPr marL="36900" indent="0" algn="l" rtl="0">
              <a:buNone/>
            </a:pPr>
            <a:r>
              <a:rPr lang="en-US" sz="2800" dirty="0" smtClean="0">
                <a:latin typeface="+mj-lt"/>
                <a:ea typeface="Segoe UI Black" panose="020B0A02040204020203" pitchFamily="34" charset="0"/>
                <a:cs typeface="Segoe UI Black" panose="020B0A02040204020203" pitchFamily="34" charset="0"/>
              </a:rPr>
              <a:t>		</a:t>
            </a:r>
            <a:r>
              <a:rPr lang="en-US" sz="9600" b="1" dirty="0">
                <a:solidFill>
                  <a:srgbClr val="FFFF00"/>
                </a:solidFill>
                <a:effectLst/>
              </a:rPr>
              <a:t>for</a:t>
            </a:r>
            <a:r>
              <a:rPr lang="en-US" sz="9600" dirty="0">
                <a:effectLst/>
              </a:rPr>
              <a:t> item in list:</a:t>
            </a:r>
          </a:p>
          <a:p>
            <a:pPr marL="1128500" lvl="8" indent="0" algn="l" rtl="0">
              <a:buNone/>
            </a:pPr>
            <a:r>
              <a:rPr lang="en-US" sz="5100" dirty="0">
                <a:effectLst/>
              </a:rPr>
              <a:t> </a:t>
            </a:r>
            <a:r>
              <a:rPr lang="en-US" sz="5100" dirty="0" smtClean="0">
                <a:effectLst/>
              </a:rPr>
              <a:t>  </a:t>
            </a:r>
            <a:r>
              <a:rPr lang="en-US" sz="9600" dirty="0">
                <a:effectLst/>
              </a:rPr>
              <a:t>statements</a:t>
            </a:r>
          </a:p>
          <a:p>
            <a:pPr algn="l" rtl="0"/>
            <a:r>
              <a:rPr lang="en-US" sz="9600" dirty="0">
                <a:effectLst/>
              </a:rPr>
              <a:t>For print values of list with </a:t>
            </a:r>
            <a:r>
              <a:rPr lang="en-US" sz="9600" dirty="0" smtClean="0">
                <a:effectLst/>
              </a:rPr>
              <a:t>the name </a:t>
            </a:r>
            <a:r>
              <a:rPr lang="en-US" sz="9600" dirty="0" err="1">
                <a:effectLst/>
              </a:rPr>
              <a:t>myList</a:t>
            </a:r>
            <a:r>
              <a:rPr lang="en-US" sz="9600" dirty="0">
                <a:effectLst/>
              </a:rPr>
              <a:t> :</a:t>
            </a:r>
          </a:p>
          <a:p>
            <a:pPr marL="36900" indent="0" algn="l" rtl="0">
              <a:buNone/>
            </a:pPr>
            <a:r>
              <a:rPr lang="en-US" sz="9600" dirty="0" smtClean="0">
                <a:effectLst/>
              </a:rPr>
              <a:t>for x </a:t>
            </a:r>
            <a:r>
              <a:rPr lang="en-US" sz="9600" dirty="0">
                <a:effectLst/>
              </a:rPr>
              <a:t>in </a:t>
            </a:r>
            <a:r>
              <a:rPr lang="en-US" sz="9600" dirty="0" err="1">
                <a:effectLst/>
              </a:rPr>
              <a:t>myList</a:t>
            </a:r>
            <a:r>
              <a:rPr lang="en-US" sz="9600" dirty="0">
                <a:effectLst/>
              </a:rPr>
              <a:t>:</a:t>
            </a:r>
          </a:p>
          <a:p>
            <a:pPr marL="36900" lvl="3" indent="0" algn="l" rtl="0">
              <a:buNone/>
            </a:pPr>
            <a:r>
              <a:rPr lang="en-US" sz="6000" dirty="0" smtClean="0">
                <a:effectLst/>
              </a:rPr>
              <a:t>	</a:t>
            </a:r>
            <a:r>
              <a:rPr lang="en-US" sz="9600" dirty="0">
                <a:effectLst/>
              </a:rPr>
              <a:t>	print(x)</a:t>
            </a:r>
          </a:p>
          <a:p>
            <a:pPr marL="36900" indent="0" algn="l" rtl="0">
              <a:buNone/>
            </a:pPr>
            <a:endParaRPr lang="he-IL" dirty="0"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904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When to use Lambda?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719570"/>
            <a:ext cx="10353762" cy="4654703"/>
          </a:xfrm>
        </p:spPr>
        <p:txBody>
          <a:bodyPr>
            <a:normAutofit fontScale="85000" lnSpcReduction="10000"/>
          </a:bodyPr>
          <a:lstStyle/>
          <a:p>
            <a:pPr algn="l" rtl="0"/>
            <a:r>
              <a:rPr lang="en-US" sz="2400" dirty="0" smtClean="0"/>
              <a:t>Lambda is </a:t>
            </a:r>
            <a:r>
              <a:rPr lang="en-US" sz="2400" dirty="0"/>
              <a:t>a very powerful concept that's well integrated into Python and is often used in conjunction with typical functional concepts like filter(), map() and reduce</a:t>
            </a:r>
            <a:r>
              <a:rPr lang="en-US" sz="2400" dirty="0" smtClean="0"/>
              <a:t>(). A new list is returned! Note that they return an iterator and not list – convert first! </a:t>
            </a:r>
            <a:r>
              <a:rPr lang="en-US" sz="2400" dirty="0"/>
              <a:t>l</a:t>
            </a:r>
            <a:r>
              <a:rPr lang="en-US" sz="2400" dirty="0" smtClean="0"/>
              <a:t>ist( … )</a:t>
            </a:r>
          </a:p>
          <a:p>
            <a:pPr marL="36900" indent="0" algn="l" rtl="0">
              <a:buNone/>
            </a:pPr>
            <a:r>
              <a:rPr lang="en-US" sz="2400" dirty="0" smtClean="0"/>
              <a:t>	&gt;&gt;&gt; </a:t>
            </a:r>
            <a:r>
              <a:rPr lang="en-US" sz="2400" dirty="0"/>
              <a:t>foo = [2, 18, 9, 22, 17, 24, 8, 12, 27</a:t>
            </a:r>
            <a:r>
              <a:rPr lang="en-US" sz="2400" dirty="0" smtClean="0"/>
              <a:t>]</a:t>
            </a:r>
            <a:endParaRPr lang="en-US" sz="2400" dirty="0"/>
          </a:p>
          <a:p>
            <a:pPr marL="36900" indent="0" algn="l" rtl="0">
              <a:buNone/>
            </a:pPr>
            <a:r>
              <a:rPr lang="en-US" sz="2400" dirty="0" smtClean="0"/>
              <a:t>	&gt;&gt;&gt; </a:t>
            </a:r>
            <a:r>
              <a:rPr lang="en-US" sz="2400" dirty="0"/>
              <a:t>print </a:t>
            </a:r>
            <a:r>
              <a:rPr lang="en-US" sz="2400" dirty="0" smtClean="0"/>
              <a:t>(list(filter(lambda </a:t>
            </a:r>
            <a:r>
              <a:rPr lang="en-US" sz="2400" dirty="0"/>
              <a:t>x: x % 3 == 0, foo</a:t>
            </a:r>
            <a:r>
              <a:rPr lang="en-US" sz="2400" dirty="0" smtClean="0"/>
              <a:t>))) #remove unwanted values</a:t>
            </a:r>
            <a:endParaRPr lang="en-US" sz="2400" dirty="0"/>
          </a:p>
          <a:p>
            <a:pPr marL="36900" indent="0" algn="l" rtl="0">
              <a:buNone/>
            </a:pPr>
            <a:r>
              <a:rPr lang="en-US" sz="2400" dirty="0" smtClean="0"/>
              <a:t>	[</a:t>
            </a:r>
            <a:r>
              <a:rPr lang="en-US" sz="2400" dirty="0"/>
              <a:t>18, 9, 24, 12, 27</a:t>
            </a:r>
            <a:r>
              <a:rPr lang="en-US" sz="2400" dirty="0" smtClean="0"/>
              <a:t>]</a:t>
            </a:r>
            <a:endParaRPr lang="en-US" sz="2400" dirty="0"/>
          </a:p>
          <a:p>
            <a:pPr marL="36900" indent="0" algn="l" rtl="0">
              <a:buNone/>
            </a:pPr>
            <a:r>
              <a:rPr lang="en-US" sz="2400" dirty="0" smtClean="0"/>
              <a:t>	&gt;&gt;&gt; print(list(map(lambda </a:t>
            </a:r>
            <a:r>
              <a:rPr lang="en-US" sz="2400" dirty="0"/>
              <a:t>x: x * 2 + 10, foo</a:t>
            </a:r>
            <a:r>
              <a:rPr lang="en-US" sz="2400" dirty="0" smtClean="0"/>
              <a:t>))) #apply calculation on each value</a:t>
            </a:r>
            <a:endParaRPr lang="en-US" sz="2400" dirty="0"/>
          </a:p>
          <a:p>
            <a:pPr marL="36900" indent="0" algn="l" rtl="0">
              <a:buNone/>
            </a:pPr>
            <a:r>
              <a:rPr lang="en-US" sz="2400" dirty="0" smtClean="0"/>
              <a:t>	[</a:t>
            </a:r>
            <a:r>
              <a:rPr lang="en-US" sz="2400" dirty="0"/>
              <a:t>14, 46, 28, 54, </a:t>
            </a:r>
            <a:r>
              <a:rPr lang="en-US" sz="2400" dirty="0" smtClean="0"/>
              <a:t>44, </a:t>
            </a:r>
            <a:r>
              <a:rPr lang="en-US" sz="2400" dirty="0"/>
              <a:t>58, 26, 34, 64</a:t>
            </a:r>
            <a:r>
              <a:rPr lang="en-US" sz="2400" dirty="0" smtClean="0"/>
              <a:t>]</a:t>
            </a:r>
            <a:endParaRPr lang="en-US" sz="2400" dirty="0"/>
          </a:p>
          <a:p>
            <a:pPr marL="36900" indent="0" algn="l" rtl="0">
              <a:buNone/>
            </a:pPr>
            <a:r>
              <a:rPr lang="en-US" sz="2400" dirty="0" smtClean="0"/>
              <a:t>	</a:t>
            </a:r>
            <a:r>
              <a:rPr lang="en-US" sz="2400" dirty="0"/>
              <a:t> &gt;&gt;&gt; from </a:t>
            </a:r>
            <a:r>
              <a:rPr lang="en-US" sz="2400" dirty="0" err="1"/>
              <a:t>functools</a:t>
            </a:r>
            <a:r>
              <a:rPr lang="en-US" sz="2400" dirty="0"/>
              <a:t> import reduce</a:t>
            </a:r>
            <a:endParaRPr lang="he-IL" sz="2400" dirty="0" smtClean="0"/>
          </a:p>
          <a:p>
            <a:pPr marL="36900" indent="0" algn="l" rtl="0">
              <a:buNone/>
            </a:pPr>
            <a:r>
              <a:rPr lang="he-IL" sz="2400" dirty="0"/>
              <a:t>	</a:t>
            </a:r>
            <a:r>
              <a:rPr lang="en-US" sz="2400" dirty="0" smtClean="0"/>
              <a:t>&gt;&gt;&gt; print(reduce(lambda x, y: x + y, foo)) #take 2 values, apply </a:t>
            </a:r>
            <a:r>
              <a:rPr lang="en-US" sz="2400" dirty="0" err="1" smtClean="0"/>
              <a:t>calc</a:t>
            </a:r>
            <a:r>
              <a:rPr lang="en-US" sz="2400" dirty="0" smtClean="0"/>
              <a:t> on all 															values</a:t>
            </a:r>
          </a:p>
          <a:p>
            <a:pPr marL="36900" indent="0" algn="l" rtl="0">
              <a:buNone/>
            </a:pPr>
            <a:r>
              <a:rPr lang="en-US" sz="2400" dirty="0" smtClean="0"/>
              <a:t>	139</a:t>
            </a:r>
          </a:p>
          <a:p>
            <a:pPr algn="l" rtl="0"/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382558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order functions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654703"/>
          </a:xfrm>
        </p:spPr>
        <p:txBody>
          <a:bodyPr>
            <a:normAutofit fontScale="92500" lnSpcReduction="20000"/>
          </a:bodyPr>
          <a:lstStyle/>
          <a:p>
            <a:pPr marL="36900" indent="0" algn="l" rtl="0">
              <a:lnSpc>
                <a:spcPct val="150000"/>
              </a:lnSpc>
              <a:buNone/>
            </a:pPr>
            <a:endParaRPr lang="en-US" sz="2800" dirty="0" smtClean="0"/>
          </a:p>
          <a:p>
            <a:pPr marL="36900" indent="0" algn="l" rtl="0">
              <a:lnSpc>
                <a:spcPct val="150000"/>
              </a:lnSpc>
              <a:buNone/>
            </a:pPr>
            <a:r>
              <a:rPr lang="en-US" sz="2800" dirty="0" smtClean="0"/>
              <a:t>Functions </a:t>
            </a:r>
            <a:r>
              <a:rPr lang="en-US" sz="2800" dirty="0"/>
              <a:t>that manipulate functions are called higher-order functions</a:t>
            </a:r>
            <a:r>
              <a:rPr lang="en-US" sz="2800" dirty="0" smtClean="0"/>
              <a:t>.</a:t>
            </a:r>
          </a:p>
          <a:p>
            <a:pPr marL="36900" indent="0" algn="l" rtl="0">
              <a:lnSpc>
                <a:spcPct val="150000"/>
              </a:lnSpc>
              <a:buNone/>
            </a:pPr>
            <a:r>
              <a:rPr lang="en-US" sz="2800" dirty="0" smtClean="0"/>
              <a:t>They either:</a:t>
            </a:r>
          </a:p>
          <a:p>
            <a:pPr marL="36900" lvl="1" indent="0" algn="l" rtl="0">
              <a:lnSpc>
                <a:spcPct val="150000"/>
              </a:lnSpc>
              <a:buNone/>
            </a:pPr>
            <a:r>
              <a:rPr lang="en-US" sz="2800" dirty="0" smtClean="0"/>
              <a:t>- </a:t>
            </a:r>
            <a:r>
              <a:rPr lang="en-US" sz="2800" dirty="0"/>
              <a:t>accept other functions as </a:t>
            </a:r>
            <a:r>
              <a:rPr lang="en-US" sz="2800" dirty="0" smtClean="0"/>
              <a:t>arguments</a:t>
            </a:r>
            <a:endParaRPr lang="en-US" sz="2800" dirty="0"/>
          </a:p>
          <a:p>
            <a:pPr marL="36900" lvl="1" indent="0" algn="l" rtl="0">
              <a:lnSpc>
                <a:spcPct val="150000"/>
              </a:lnSpc>
              <a:buNone/>
            </a:pPr>
            <a:r>
              <a:rPr lang="en-US" sz="2800" dirty="0"/>
              <a:t>- return functions as values</a:t>
            </a:r>
          </a:p>
          <a:p>
            <a:pPr marL="36900" indent="0" algn="l" rtl="0">
              <a:lnSpc>
                <a:spcPct val="150000"/>
              </a:lnSpc>
              <a:buNone/>
            </a:pPr>
            <a:endParaRPr lang="en-US" sz="2400" dirty="0" smtClean="0"/>
          </a:p>
          <a:p>
            <a:pPr marL="36900" indent="0" algn="l" rtl="0">
              <a:lnSpc>
                <a:spcPct val="150000"/>
              </a:lnSpc>
              <a:buNone/>
            </a:pPr>
            <a:r>
              <a:rPr lang="en-US" sz="2400" dirty="0" smtClean="0"/>
              <a:t> </a:t>
            </a:r>
            <a:endParaRPr lang="en-US" sz="2400" dirty="0"/>
          </a:p>
          <a:p>
            <a:pPr algn="l" rtl="0"/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44966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896" y="354844"/>
            <a:ext cx="10353762" cy="791569"/>
          </a:xfrm>
        </p:spPr>
        <p:txBody>
          <a:bodyPr>
            <a:normAutofit fontScale="90000"/>
          </a:bodyPr>
          <a:lstStyle/>
          <a:p>
            <a:r>
              <a:rPr lang="en-US" dirty="0"/>
              <a:t>accept other functions as arguments</a:t>
            </a:r>
            <a:r>
              <a:rPr lang="en-US" dirty="0" smtClean="0"/>
              <a:t/>
            </a:r>
            <a:br>
              <a:rPr lang="en-US" dirty="0" smtClean="0"/>
            </a:b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941696"/>
            <a:ext cx="10353762" cy="5445457"/>
          </a:xfrm>
        </p:spPr>
        <p:txBody>
          <a:bodyPr>
            <a:normAutofit fontScale="47500" lnSpcReduction="20000"/>
          </a:bodyPr>
          <a:lstStyle/>
          <a:p>
            <a:pPr algn="l" rtl="0"/>
            <a:endParaRPr lang="en-US" sz="2400" dirty="0" smtClean="0">
              <a:cs typeface="+mj-cs"/>
            </a:endParaRPr>
          </a:p>
          <a:p>
            <a:pPr marL="36900" indent="0" algn="l" rtl="0">
              <a:lnSpc>
                <a:spcPct val="150000"/>
              </a:lnSpc>
              <a:buNone/>
            </a:pPr>
            <a:r>
              <a:rPr lang="en-US" sz="3800" dirty="0" err="1"/>
              <a:t>def</a:t>
            </a:r>
            <a:r>
              <a:rPr lang="en-US" sz="3800" dirty="0"/>
              <a:t> </a:t>
            </a:r>
            <a:r>
              <a:rPr lang="en-US" sz="3800" b="1" dirty="0" smtClean="0">
                <a:solidFill>
                  <a:srgbClr val="FFFF00"/>
                </a:solidFill>
              </a:rPr>
              <a:t>summation </a:t>
            </a:r>
            <a:r>
              <a:rPr lang="en-US" sz="3800" dirty="0" smtClean="0"/>
              <a:t>( low , high , function , next ):</a:t>
            </a:r>
            <a:endParaRPr lang="en-US" sz="3800" dirty="0"/>
          </a:p>
          <a:p>
            <a:pPr marL="36900" indent="0" algn="l" rtl="0">
              <a:lnSpc>
                <a:spcPct val="150000"/>
              </a:lnSpc>
              <a:buNone/>
            </a:pPr>
            <a:r>
              <a:rPr lang="en-US" sz="3800" dirty="0"/>
              <a:t>    total=0</a:t>
            </a:r>
          </a:p>
          <a:p>
            <a:pPr marL="36900" indent="0" algn="l" rtl="0">
              <a:lnSpc>
                <a:spcPct val="150000"/>
              </a:lnSpc>
              <a:buNone/>
            </a:pPr>
            <a:r>
              <a:rPr lang="en-US" sz="3800" dirty="0"/>
              <a:t>    while low&lt;=high:</a:t>
            </a:r>
          </a:p>
          <a:p>
            <a:pPr marL="36900" indent="0" algn="l" rtl="0">
              <a:lnSpc>
                <a:spcPct val="150000"/>
              </a:lnSpc>
              <a:buNone/>
            </a:pPr>
            <a:r>
              <a:rPr lang="en-US" sz="3800" dirty="0"/>
              <a:t>        total+=</a:t>
            </a:r>
            <a:r>
              <a:rPr lang="en-US" sz="3800" dirty="0" smtClean="0"/>
              <a:t>function (</a:t>
            </a:r>
            <a:r>
              <a:rPr lang="en-US" sz="3800" dirty="0"/>
              <a:t>low)</a:t>
            </a:r>
          </a:p>
          <a:p>
            <a:pPr marL="36900" indent="0" algn="l" rtl="0">
              <a:lnSpc>
                <a:spcPct val="150000"/>
              </a:lnSpc>
              <a:buNone/>
            </a:pPr>
            <a:r>
              <a:rPr lang="en-US" sz="3800" dirty="0"/>
              <a:t>        </a:t>
            </a:r>
            <a:r>
              <a:rPr lang="en-US" sz="3800" dirty="0" smtClean="0"/>
              <a:t>low=next (</a:t>
            </a:r>
            <a:r>
              <a:rPr lang="en-US" sz="3800" dirty="0"/>
              <a:t>low)</a:t>
            </a:r>
          </a:p>
          <a:p>
            <a:pPr marL="36900" indent="0" algn="l" rtl="0">
              <a:lnSpc>
                <a:spcPct val="150000"/>
              </a:lnSpc>
              <a:buNone/>
            </a:pPr>
            <a:r>
              <a:rPr lang="en-US" sz="3800" dirty="0"/>
              <a:t>    return total</a:t>
            </a:r>
          </a:p>
          <a:p>
            <a:pPr marL="36900" indent="0" algn="l" rtl="0">
              <a:lnSpc>
                <a:spcPct val="150000"/>
              </a:lnSpc>
              <a:buNone/>
            </a:pPr>
            <a:r>
              <a:rPr lang="en-US" sz="3800" dirty="0" err="1"/>
              <a:t>def</a:t>
            </a:r>
            <a:r>
              <a:rPr lang="en-US" sz="3800" dirty="0"/>
              <a:t> </a:t>
            </a:r>
            <a:r>
              <a:rPr lang="en-US" sz="3800" b="1" dirty="0" err="1" smtClean="0">
                <a:solidFill>
                  <a:srgbClr val="FFFF00"/>
                </a:solidFill>
              </a:rPr>
              <a:t>nextTwo</a:t>
            </a:r>
            <a:r>
              <a:rPr lang="en-US" sz="3800" b="1" dirty="0" smtClean="0">
                <a:solidFill>
                  <a:srgbClr val="FFFF00"/>
                </a:solidFill>
              </a:rPr>
              <a:t> </a:t>
            </a:r>
            <a:r>
              <a:rPr lang="en-US" sz="3800" dirty="0" smtClean="0"/>
              <a:t>( k ):</a:t>
            </a:r>
            <a:endParaRPr lang="en-US" sz="3800" dirty="0"/>
          </a:p>
          <a:p>
            <a:pPr marL="36900" indent="0" algn="l" rtl="0">
              <a:lnSpc>
                <a:spcPct val="150000"/>
              </a:lnSpc>
              <a:buNone/>
            </a:pPr>
            <a:r>
              <a:rPr lang="en-US" sz="3800" dirty="0"/>
              <a:t>    return k+2</a:t>
            </a:r>
          </a:p>
          <a:p>
            <a:pPr marL="36900" indent="0" algn="l" rtl="0">
              <a:lnSpc>
                <a:spcPct val="150000"/>
              </a:lnSpc>
              <a:buNone/>
            </a:pPr>
            <a:r>
              <a:rPr lang="en-US" sz="3800" dirty="0"/>
              <a:t>print(summation(0,5,lambda x: x**2,lambda x:x+1))</a:t>
            </a:r>
          </a:p>
          <a:p>
            <a:pPr marL="36900" indent="0" algn="l" rtl="0">
              <a:lnSpc>
                <a:spcPct val="150000"/>
              </a:lnSpc>
              <a:buNone/>
            </a:pPr>
            <a:r>
              <a:rPr lang="en-US" sz="3800" dirty="0"/>
              <a:t>print(summation(0,5,lambda x: x**2,nextTwo))</a:t>
            </a:r>
            <a:r>
              <a:rPr lang="en-US" sz="3800" dirty="0" smtClean="0"/>
              <a:t>	</a:t>
            </a:r>
            <a:r>
              <a:rPr lang="en-US" sz="3800" dirty="0" smtClean="0">
                <a:cs typeface="+mj-cs"/>
              </a:rPr>
              <a:t>	</a:t>
            </a:r>
            <a:r>
              <a:rPr lang="en-US" sz="2800" dirty="0" smtClean="0">
                <a:cs typeface="+mj-cs"/>
              </a:rPr>
              <a:t>				</a:t>
            </a:r>
          </a:p>
          <a:p>
            <a:pPr marL="36900" indent="0" algn="l" rtl="0">
              <a:buNone/>
            </a:pPr>
            <a:r>
              <a:rPr lang="en-US" sz="2400" dirty="0" smtClean="0"/>
              <a:t>	</a:t>
            </a:r>
            <a:r>
              <a:rPr lang="he-IL" sz="2400" dirty="0" smtClean="0"/>
              <a:t>;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546979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354843"/>
            <a:ext cx="10353762" cy="791569"/>
          </a:xfrm>
        </p:spPr>
        <p:txBody>
          <a:bodyPr>
            <a:normAutofit/>
          </a:bodyPr>
          <a:lstStyle/>
          <a:p>
            <a:r>
              <a:rPr lang="en-US" dirty="0"/>
              <a:t>return functions as values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941696"/>
            <a:ext cx="10353762" cy="5445457"/>
          </a:xfrm>
        </p:spPr>
        <p:txBody>
          <a:bodyPr>
            <a:normAutofit fontScale="55000" lnSpcReduction="20000"/>
          </a:bodyPr>
          <a:lstStyle/>
          <a:p>
            <a:pPr algn="l" rtl="0"/>
            <a:endParaRPr lang="en-US" sz="2400" dirty="0" smtClean="0">
              <a:cs typeface="+mj-cs"/>
            </a:endParaRPr>
          </a:p>
          <a:p>
            <a:pPr marL="36900" indent="0" algn="l" rtl="0">
              <a:lnSpc>
                <a:spcPct val="150000"/>
              </a:lnSpc>
              <a:buNone/>
            </a:pPr>
            <a:r>
              <a:rPr lang="en-US" sz="3800" dirty="0" err="1"/>
              <a:t>def</a:t>
            </a:r>
            <a:r>
              <a:rPr lang="en-US" sz="3800" dirty="0"/>
              <a:t> </a:t>
            </a:r>
            <a:r>
              <a:rPr lang="en-US" sz="3800" b="1" dirty="0" err="1">
                <a:solidFill>
                  <a:srgbClr val="FFFF00"/>
                </a:solidFill>
              </a:rPr>
              <a:t>make_adder</a:t>
            </a:r>
            <a:r>
              <a:rPr lang="en-US" sz="3800" dirty="0"/>
              <a:t> ( n ):</a:t>
            </a:r>
          </a:p>
          <a:p>
            <a:pPr marL="36900" indent="0" algn="l" rtl="0">
              <a:lnSpc>
                <a:spcPct val="150000"/>
              </a:lnSpc>
              <a:buNone/>
            </a:pPr>
            <a:r>
              <a:rPr lang="en-US" sz="3800" dirty="0"/>
              <a:t>    """return a function that takes argument </a:t>
            </a:r>
            <a:r>
              <a:rPr lang="en-US" sz="3800" dirty="0" smtClean="0"/>
              <a:t> k</a:t>
            </a:r>
            <a:endParaRPr lang="en-US" sz="3800" dirty="0"/>
          </a:p>
          <a:p>
            <a:pPr marL="36900" indent="0" algn="l" rtl="0">
              <a:lnSpc>
                <a:spcPct val="150000"/>
              </a:lnSpc>
              <a:buNone/>
            </a:pPr>
            <a:r>
              <a:rPr lang="en-US" sz="3800" dirty="0"/>
              <a:t>    and returns </a:t>
            </a:r>
            <a:r>
              <a:rPr lang="en-US" sz="3800" dirty="0" smtClean="0"/>
              <a:t> </a:t>
            </a:r>
            <a:r>
              <a:rPr lang="en-US" sz="3800" dirty="0" err="1" smtClean="0"/>
              <a:t>k+n</a:t>
            </a:r>
            <a:r>
              <a:rPr lang="en-US" sz="3800" dirty="0"/>
              <a:t>"""</a:t>
            </a:r>
          </a:p>
          <a:p>
            <a:pPr marL="36900" indent="0" algn="l" rtl="0">
              <a:lnSpc>
                <a:spcPct val="150000"/>
              </a:lnSpc>
              <a:buNone/>
            </a:pPr>
            <a:r>
              <a:rPr lang="en-US" sz="3800" dirty="0"/>
              <a:t>    </a:t>
            </a:r>
            <a:r>
              <a:rPr lang="en-US" sz="3800" dirty="0" err="1"/>
              <a:t>def</a:t>
            </a:r>
            <a:r>
              <a:rPr lang="en-US" sz="3800" dirty="0"/>
              <a:t> adder ( k ):</a:t>
            </a:r>
          </a:p>
          <a:p>
            <a:pPr marL="36900" indent="0" algn="l" rtl="0">
              <a:lnSpc>
                <a:spcPct val="150000"/>
              </a:lnSpc>
              <a:buNone/>
            </a:pPr>
            <a:r>
              <a:rPr lang="en-US" sz="3800" dirty="0"/>
              <a:t>        return </a:t>
            </a:r>
            <a:r>
              <a:rPr lang="en-US" sz="3800" dirty="0" err="1"/>
              <a:t>k+n</a:t>
            </a:r>
            <a:endParaRPr lang="en-US" sz="3800" dirty="0"/>
          </a:p>
          <a:p>
            <a:pPr marL="36900" indent="0" algn="l" rtl="0">
              <a:lnSpc>
                <a:spcPct val="150000"/>
              </a:lnSpc>
              <a:buNone/>
            </a:pPr>
            <a:r>
              <a:rPr lang="en-US" sz="3800" dirty="0"/>
              <a:t>    return adder</a:t>
            </a:r>
          </a:p>
          <a:p>
            <a:pPr marL="36900" indent="0" algn="l" rtl="0">
              <a:lnSpc>
                <a:spcPct val="150000"/>
              </a:lnSpc>
              <a:buNone/>
            </a:pPr>
            <a:r>
              <a:rPr lang="en-US" sz="3800" dirty="0"/>
              <a:t>three=</a:t>
            </a:r>
            <a:r>
              <a:rPr lang="en-US" sz="3800" b="1" dirty="0" err="1">
                <a:solidFill>
                  <a:srgbClr val="FFFF00"/>
                </a:solidFill>
              </a:rPr>
              <a:t>make_adder</a:t>
            </a:r>
            <a:r>
              <a:rPr lang="en-US" sz="3800" dirty="0"/>
              <a:t>(3)</a:t>
            </a:r>
          </a:p>
          <a:p>
            <a:pPr marL="36900" indent="0" algn="l" rtl="0">
              <a:lnSpc>
                <a:spcPct val="150000"/>
              </a:lnSpc>
              <a:buNone/>
            </a:pPr>
            <a:r>
              <a:rPr lang="en-US" sz="3800" dirty="0"/>
              <a:t>three(4) #=&gt;7 </a:t>
            </a:r>
            <a:r>
              <a:rPr lang="en-US" sz="3800" dirty="0" smtClean="0">
                <a:cs typeface="+mj-cs"/>
              </a:rPr>
              <a:t>	</a:t>
            </a:r>
            <a:r>
              <a:rPr lang="en-US" sz="2800" dirty="0" smtClean="0">
                <a:cs typeface="+mj-cs"/>
              </a:rPr>
              <a:t>				</a:t>
            </a:r>
          </a:p>
          <a:p>
            <a:pPr marL="36900" indent="0" algn="l" rtl="0">
              <a:buNone/>
            </a:pPr>
            <a:r>
              <a:rPr lang="en-US" sz="2400" dirty="0" smtClean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84696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TC104033929[[fn=Slate]]</Template>
  <TotalTime>7450</TotalTime>
  <Words>245</Words>
  <Application>Microsoft Office PowerPoint</Application>
  <PresentationFormat>Widescreen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Calisto MT</vt:lpstr>
      <vt:lpstr>Segoe UI Black</vt:lpstr>
      <vt:lpstr>Trebuchet MS</vt:lpstr>
      <vt:lpstr>Wingdings 2</vt:lpstr>
      <vt:lpstr>Slate</vt:lpstr>
      <vt:lpstr>PPL: Lab 5</vt:lpstr>
      <vt:lpstr>What is Lambda?</vt:lpstr>
      <vt:lpstr>How to use Lambda?</vt:lpstr>
      <vt:lpstr>Lists</vt:lpstr>
      <vt:lpstr>When to use Lambda?</vt:lpstr>
      <vt:lpstr>High order functions</vt:lpstr>
      <vt:lpstr>accept other functions as arguments </vt:lpstr>
      <vt:lpstr>return functions as values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PPL: Lab 2</dc:title>
  <dc:creator>David Drabkin;Svetlana Rosin</dc:creator>
  <cp:lastModifiedBy>MIchael Finkelstein</cp:lastModifiedBy>
  <cp:revision>46</cp:revision>
  <dcterms:created xsi:type="dcterms:W3CDTF">2014-10-18T12:21:42Z</dcterms:created>
  <dcterms:modified xsi:type="dcterms:W3CDTF">2017-11-16T09:54:54Z</dcterms:modified>
</cp:coreProperties>
</file>